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C:\Users\lab508\Desktop\uav_project2\TWO_STAGE_STREAMING_OPTIMIZATION_SUMMARY.md</a:t>
            </a:r>
          </a:p>
          <a:p>
            <a:endParaRPr/>
          </a:p>
          <a:p>
            <a:r>
              <a:t>Deck overview: the two optimization stages and their measured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C:\Users\lab508\Desktop\uav_project2\TWO_STAGE_STREAMING_OPTIMIZATION_SUMMARY.md</a:t>
            </a:r>
          </a:p>
          <a:p>
            <a:endParaRPr/>
          </a:p>
          <a:p>
            <a:r>
              <a:t>Stage 1 measurements. WebRTC FPS in the source includes repeated/latest frames and startup catch-up; it is not unique YOLO FPS.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C:\Users\lab508\Desktop\uav_project2\TWO_STAGE_STREAMING_OPTIMIZATION_SUMMARY.md</a:t>
            </a:r>
          </a:p>
          <a:p>
            <a:endParaRPr/>
          </a:p>
          <a:p>
            <a:r>
              <a:t>Stage 2 measurements. Final RSS increased by about 73 MiB; power-saving was not established in the current test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C:\Users\lab508\Desktop\uav_project2\TWO_STAGE_STREAMING_OPTIMIZATION_SUMMARY.md</a:t>
            </a:r>
          </a:p>
          <a:p>
            <a:endParaRPr/>
          </a:p>
          <a:p>
            <a:r>
              <a:t>Synthesis and recommended next engineering priority: Jetson hardware H.264 encoding, startup catch-up fixes, unique-frame timestamps, and fewer copies.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itle">
            <a:extLst>
              <a:ext uri="{FF2B5EF4-FFF2-40B4-BE49-F238E27FC236}">
                <a16:creationId xmlns:a16="http://schemas.microsoft.com/office/drawing/2014/main" id="{A4705A62-C309-43E5-895B-AB6179E6770E}"/>
              </a:ext>
            </a:extLst>
          </p:cNvPr>
          <p:cNvSpPr>
            <a:spLocks noGrp="1"/>
          </p:cNvSpPr>
          <p:nvPr/>
        </p:nvSpPr>
        <p:spPr>
          <a:xfrm>
            <a:off x="1371600" y="1938846"/>
            <a:ext cx="9448800" cy="2619375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ctr">
              <a:defRPr sz="6000" b="1">
                <a:solidFill>
                  <a:srgbClr val="12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dirty="0"/>
              <a:t>0805 meeting</a:t>
            </a:r>
          </a:p>
          <a:p>
            <a:pPr algn="ctr">
              <a:defRPr sz="6000" b="1">
                <a:solidFill>
                  <a:srgbClr val="12202F"/>
                </a:solidFill>
                <a:latin typeface="Microsoft JhengHei"/>
                <a:ea typeface="Microsoft JhengHei"/>
                <a:cs typeface="Microsoft JhengHei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0830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2-title">
            <a:extLst>
              <a:ext uri="{FF2B5EF4-FFF2-40B4-BE49-F238E27FC236}">
                <a16:creationId xmlns:a16="http://schemas.microsoft.com/office/drawing/2014/main" id="{B5141681-2B52-4F2B-BE52-515A025E4286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66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2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 err="1"/>
              <a:t>階段一：WebRTC</a:t>
            </a:r>
            <a:r>
              <a:rPr dirty="0"/>
              <a:t> </a:t>
            </a:r>
            <a:r>
              <a:rPr lang="en-US" dirty="0"/>
              <a:t>+ vp8</a:t>
            </a:r>
            <a:r>
              <a:rPr lang="zh-TW" altLang="en-US" dirty="0"/>
              <a:t> 編碼</a:t>
            </a:r>
            <a:r>
              <a:rPr dirty="0" err="1"/>
              <a:t>幾乎消除頻寬壓力</a:t>
            </a:r>
            <a:endParaRPr dirty="0"/>
          </a:p>
        </p:txBody>
      </p:sp>
      <p:sp>
        <p:nvSpPr>
          <p:cNvPr id="2" name="s2-intro">
            <a:extLst>
              <a:ext uri="{FF2B5EF4-FFF2-40B4-BE49-F238E27FC236}">
                <a16:creationId xmlns:a16="http://schemas.microsoft.com/office/drawing/2014/main" id="{3591CA81-75CC-4246-B872-1A6EEECC2420}"/>
              </a:ext>
            </a:extLst>
          </p:cNvPr>
          <p:cNvSpPr>
            <a:spLocks noGrp="1"/>
          </p:cNvSpPr>
          <p:nvPr/>
        </p:nvSpPr>
        <p:spPr>
          <a:xfrm>
            <a:off x="400050" y="1162050"/>
            <a:ext cx="11401425" cy="1095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5060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/>
              <a:t>1920×1080 @ 30 FPS </a:t>
            </a:r>
            <a:r>
              <a:rPr dirty="0" err="1"/>
              <a:t>實測：以較高</a:t>
            </a:r>
            <a:r>
              <a:rPr dirty="0"/>
              <a:t> CPU </a:t>
            </a:r>
            <a:r>
              <a:rPr dirty="0" err="1"/>
              <a:t>成本，換取更適合</a:t>
            </a:r>
            <a:r>
              <a:rPr dirty="0"/>
              <a:t> Wi-Fi </a:t>
            </a:r>
            <a:r>
              <a:rPr dirty="0" err="1"/>
              <a:t>與遠端監看的傳輸效率</a:t>
            </a:r>
            <a:r>
              <a:rPr dirty="0"/>
              <a:t>。</a:t>
            </a:r>
          </a:p>
        </p:txBody>
      </p:sp>
      <p:sp>
        <p:nvSpPr>
          <p:cNvPr id="3" name="s2-callout">
            <a:extLst>
              <a:ext uri="{FF2B5EF4-FFF2-40B4-BE49-F238E27FC236}">
                <a16:creationId xmlns:a16="http://schemas.microsoft.com/office/drawing/2014/main" id="{667CCA45-B1CF-4AA8-B021-7FCD89ECA577}"/>
              </a:ext>
            </a:extLst>
          </p:cNvPr>
          <p:cNvSpPr>
            <a:spLocks noGrp="1"/>
          </p:cNvSpPr>
          <p:nvPr/>
        </p:nvSpPr>
        <p:spPr>
          <a:xfrm>
            <a:off x="400050" y="2400300"/>
            <a:ext cx="11401425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1769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 err="1"/>
              <a:t>網路流量降低約</a:t>
            </a:r>
            <a:r>
              <a:rPr dirty="0"/>
              <a:t> 97%</a:t>
            </a:r>
          </a:p>
        </p:txBody>
      </p:sp>
      <p:sp>
        <p:nvSpPr>
          <p:cNvPr id="4" name="s2-mjpeg-card">
            <a:extLst>
              <a:ext uri="{FF2B5EF4-FFF2-40B4-BE49-F238E27FC236}">
                <a16:creationId xmlns:a16="http://schemas.microsoft.com/office/drawing/2014/main" id="{DCA6BA09-3EBD-4B47-A2CA-D891D500A11F}"/>
              </a:ext>
            </a:extLst>
          </p:cNvPr>
          <p:cNvSpPr>
            <a:spLocks noGrp="1"/>
          </p:cNvSpPr>
          <p:nvPr/>
        </p:nvSpPr>
        <p:spPr>
          <a:xfrm>
            <a:off x="400050" y="3343275"/>
            <a:ext cx="5534025" cy="1323975"/>
          </a:xfrm>
          <a:prstGeom prst="roundRect">
            <a:avLst>
              <a:gd name="adj" fmla="val 5755"/>
            </a:avLst>
          </a:prstGeom>
          <a:solidFill>
            <a:srgbClr val="F2F4F6"/>
          </a:solidFill>
        </p:spPr>
      </p:sp>
      <p:sp>
        <p:nvSpPr>
          <p:cNvPr id="5" name="s2-webrtc-card">
            <a:extLst>
              <a:ext uri="{FF2B5EF4-FFF2-40B4-BE49-F238E27FC236}">
                <a16:creationId xmlns:a16="http://schemas.microsoft.com/office/drawing/2014/main" id="{CCF88FB8-F20D-4CB6-9536-CB1A35E01C34}"/>
              </a:ext>
            </a:extLst>
          </p:cNvPr>
          <p:cNvSpPr>
            <a:spLocks noGrp="1"/>
          </p:cNvSpPr>
          <p:nvPr/>
        </p:nvSpPr>
        <p:spPr>
          <a:xfrm>
            <a:off x="6257925" y="3343275"/>
            <a:ext cx="5534025" cy="1323975"/>
          </a:xfrm>
          <a:prstGeom prst="roundRect">
            <a:avLst>
              <a:gd name="adj" fmla="val 5755"/>
            </a:avLst>
          </a:prstGeom>
          <a:solidFill>
            <a:srgbClr val="DCEBFA"/>
          </a:solidFill>
        </p:spPr>
      </p:sp>
      <p:sp>
        <p:nvSpPr>
          <p:cNvPr id="6" name="s2-mjpeg-label">
            <a:extLst>
              <a:ext uri="{FF2B5EF4-FFF2-40B4-BE49-F238E27FC236}">
                <a16:creationId xmlns:a16="http://schemas.microsoft.com/office/drawing/2014/main" id="{E14B1D2D-329C-4603-B62D-4ABB9E3424F7}"/>
              </a:ext>
            </a:extLst>
          </p:cNvPr>
          <p:cNvSpPr>
            <a:spLocks noGrp="1"/>
          </p:cNvSpPr>
          <p:nvPr/>
        </p:nvSpPr>
        <p:spPr>
          <a:xfrm>
            <a:off x="695325" y="3590925"/>
            <a:ext cx="4981575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2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MJPEG</a:t>
            </a:r>
          </a:p>
        </p:txBody>
      </p:sp>
      <p:sp>
        <p:nvSpPr>
          <p:cNvPr id="7" name="s2-mjpeg-stat">
            <a:extLst>
              <a:ext uri="{FF2B5EF4-FFF2-40B4-BE49-F238E27FC236}">
                <a16:creationId xmlns:a16="http://schemas.microsoft.com/office/drawing/2014/main" id="{BF170122-2B8E-42B2-BF61-9867454E679E}"/>
              </a:ext>
            </a:extLst>
          </p:cNvPr>
          <p:cNvSpPr>
            <a:spLocks noGrp="1"/>
          </p:cNvSpPr>
          <p:nvPr/>
        </p:nvSpPr>
        <p:spPr>
          <a:xfrm>
            <a:off x="695325" y="4048125"/>
            <a:ext cx="4981575" cy="476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12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/>
              <a:t>38.55 Mb/s</a:t>
            </a:r>
          </a:p>
        </p:txBody>
      </p:sp>
      <p:sp>
        <p:nvSpPr>
          <p:cNvPr id="8" name="s2-mjpeg-detail">
            <a:extLst>
              <a:ext uri="{FF2B5EF4-FFF2-40B4-BE49-F238E27FC236}">
                <a16:creationId xmlns:a16="http://schemas.microsoft.com/office/drawing/2014/main" id="{18AD3A88-70FD-451E-A6C9-19D79FDC340B}"/>
              </a:ext>
            </a:extLst>
          </p:cNvPr>
          <p:cNvSpPr>
            <a:spLocks noGrp="1"/>
          </p:cNvSpPr>
          <p:nvPr/>
        </p:nvSpPr>
        <p:spPr>
          <a:xfrm>
            <a:off x="695325" y="4829175"/>
            <a:ext cx="5238750" cy="981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060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/>
              <a:t>CPU 64.6%
</a:t>
            </a:r>
            <a:r>
              <a:rPr dirty="0" err="1"/>
              <a:t>架構簡單，但</a:t>
            </a:r>
            <a:r>
              <a:rPr dirty="0"/>
              <a:t> 1080p </a:t>
            </a:r>
            <a:r>
              <a:rPr dirty="0" err="1"/>
              <a:t>頻寬高</a:t>
            </a:r>
            <a:endParaRPr dirty="0"/>
          </a:p>
        </p:txBody>
      </p:sp>
      <p:sp>
        <p:nvSpPr>
          <p:cNvPr id="9" name="s2-webrtc-label">
            <a:extLst>
              <a:ext uri="{FF2B5EF4-FFF2-40B4-BE49-F238E27FC236}">
                <a16:creationId xmlns:a16="http://schemas.microsoft.com/office/drawing/2014/main" id="{17C32AF8-9BED-4096-863F-4009894BEBF2}"/>
              </a:ext>
            </a:extLst>
          </p:cNvPr>
          <p:cNvSpPr>
            <a:spLocks noGrp="1"/>
          </p:cNvSpPr>
          <p:nvPr/>
        </p:nvSpPr>
        <p:spPr>
          <a:xfrm>
            <a:off x="6562725" y="3590925"/>
            <a:ext cx="4981575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769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/>
              <a:t>WebRTC</a:t>
            </a:r>
          </a:p>
        </p:txBody>
      </p:sp>
      <p:sp>
        <p:nvSpPr>
          <p:cNvPr id="10" name="s2-webrtc-stat">
            <a:extLst>
              <a:ext uri="{FF2B5EF4-FFF2-40B4-BE49-F238E27FC236}">
                <a16:creationId xmlns:a16="http://schemas.microsoft.com/office/drawing/2014/main" id="{D4C20D89-3ABD-4DA9-9DBC-6BB0706EB3EC}"/>
              </a:ext>
            </a:extLst>
          </p:cNvPr>
          <p:cNvSpPr>
            <a:spLocks noGrp="1"/>
          </p:cNvSpPr>
          <p:nvPr/>
        </p:nvSpPr>
        <p:spPr>
          <a:xfrm>
            <a:off x="6562725" y="4048125"/>
            <a:ext cx="4981575" cy="476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1769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1.14 Mb/s</a:t>
            </a:r>
          </a:p>
        </p:txBody>
      </p:sp>
      <p:sp>
        <p:nvSpPr>
          <p:cNvPr id="11" name="s2-webrtc-detail">
            <a:extLst>
              <a:ext uri="{FF2B5EF4-FFF2-40B4-BE49-F238E27FC236}">
                <a16:creationId xmlns:a16="http://schemas.microsoft.com/office/drawing/2014/main" id="{AE390E0D-83DA-4B7C-AF4A-BCD1E4E615A2}"/>
              </a:ext>
            </a:extLst>
          </p:cNvPr>
          <p:cNvSpPr>
            <a:spLocks noGrp="1"/>
          </p:cNvSpPr>
          <p:nvPr/>
        </p:nvSpPr>
        <p:spPr>
          <a:xfrm>
            <a:off x="6562725" y="4829175"/>
            <a:ext cx="5238750" cy="981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060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/>
              <a:t>CPU 203.9%
</a:t>
            </a:r>
            <a:r>
              <a:rPr dirty="0" err="1"/>
              <a:t>aiortc</a:t>
            </a:r>
            <a:r>
              <a:rPr dirty="0"/>
              <a:t>/</a:t>
            </a:r>
            <a:r>
              <a:rPr dirty="0" err="1"/>
              <a:t>PyAV</a:t>
            </a:r>
            <a:r>
              <a:rPr dirty="0"/>
              <a:t> </a:t>
            </a:r>
            <a:r>
              <a:rPr dirty="0" err="1"/>
              <a:t>軟體編碼仍是代價</a:t>
            </a:r>
            <a:endParaRPr dirty="0"/>
          </a:p>
        </p:txBody>
      </p:sp>
      <p:sp>
        <p:nvSpPr>
          <p:cNvPr id="12" name="page-2">
            <a:extLst>
              <a:ext uri="{FF2B5EF4-FFF2-40B4-BE49-F238E27FC236}">
                <a16:creationId xmlns:a16="http://schemas.microsoft.com/office/drawing/2014/main" id="{D07F3357-3251-4F49-8C12-ACB2FF2B884C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5060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4248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3-title">
            <a:extLst>
              <a:ext uri="{FF2B5EF4-FFF2-40B4-BE49-F238E27FC236}">
                <a16:creationId xmlns:a16="http://schemas.microsoft.com/office/drawing/2014/main" id="{FC4171A6-CCD3-4E9B-9DCE-49A1AB73754B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8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2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 err="1"/>
              <a:t>階段二：VIC</a:t>
            </a:r>
            <a:r>
              <a:rPr dirty="0"/>
              <a:t> </a:t>
            </a:r>
            <a:r>
              <a:rPr dirty="0" err="1"/>
              <a:t>降低輸入端色彩轉換負載</a:t>
            </a:r>
            <a:endParaRPr dirty="0"/>
          </a:p>
        </p:txBody>
      </p:sp>
      <p:sp>
        <p:nvSpPr>
          <p:cNvPr id="2" name="s3-intro">
            <a:extLst>
              <a:ext uri="{FF2B5EF4-FFF2-40B4-BE49-F238E27FC236}">
                <a16:creationId xmlns:a16="http://schemas.microsoft.com/office/drawing/2014/main" id="{D6E4BE37-CE75-4FC7-833A-A06B55923235}"/>
              </a:ext>
            </a:extLst>
          </p:cNvPr>
          <p:cNvSpPr>
            <a:spLocks noGrp="1"/>
          </p:cNvSpPr>
          <p:nvPr/>
        </p:nvSpPr>
        <p:spPr>
          <a:xfrm>
            <a:off x="390525" y="1190625"/>
            <a:ext cx="11401425" cy="1095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5060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 err="1"/>
              <a:t>工業相機</a:t>
            </a:r>
            <a:r>
              <a:rPr dirty="0"/>
              <a:t> YUYV → Jetson </a:t>
            </a:r>
            <a:r>
              <a:rPr dirty="0" err="1"/>
              <a:t>VIC（nvvidconv</a:t>
            </a:r>
            <a:r>
              <a:rPr dirty="0"/>
              <a:t>）→ </a:t>
            </a:r>
            <a:r>
              <a:rPr dirty="0" err="1"/>
              <a:t>BGRx。色彩轉換改由</a:t>
            </a:r>
            <a:r>
              <a:rPr dirty="0"/>
              <a:t> SoC </a:t>
            </a:r>
            <a:r>
              <a:rPr dirty="0" err="1"/>
              <a:t>專用硬體執行</a:t>
            </a:r>
            <a:r>
              <a:rPr dirty="0"/>
              <a:t>。</a:t>
            </a:r>
          </a:p>
        </p:txBody>
      </p:sp>
      <p:sp>
        <p:nvSpPr>
          <p:cNvPr id="3" name="s3-thesis">
            <a:extLst>
              <a:ext uri="{FF2B5EF4-FFF2-40B4-BE49-F238E27FC236}">
                <a16:creationId xmlns:a16="http://schemas.microsoft.com/office/drawing/2014/main" id="{DF25ABDC-F824-4C6A-9AE3-5534121A1731}"/>
              </a:ext>
            </a:extLst>
          </p:cNvPr>
          <p:cNvSpPr>
            <a:spLocks noGrp="1"/>
          </p:cNvSpPr>
          <p:nvPr/>
        </p:nvSpPr>
        <p:spPr>
          <a:xfrm>
            <a:off x="390525" y="2333625"/>
            <a:ext cx="11401425" cy="476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972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 err="1"/>
              <a:t>輸入端已硬體加速，但輸出端</a:t>
            </a:r>
            <a:r>
              <a:rPr dirty="0"/>
              <a:t> WebRTC </a:t>
            </a:r>
            <a:r>
              <a:rPr dirty="0" err="1"/>
              <a:t>軟體編碼仍在</a:t>
            </a:r>
            <a:r>
              <a:rPr dirty="0"/>
              <a:t> CPU。</a:t>
            </a:r>
          </a:p>
        </p:txBody>
      </p:sp>
      <p:sp>
        <p:nvSpPr>
          <p:cNvPr id="5" name="s3-card-2">
            <a:extLst>
              <a:ext uri="{FF2B5EF4-FFF2-40B4-BE49-F238E27FC236}">
                <a16:creationId xmlns:a16="http://schemas.microsoft.com/office/drawing/2014/main" id="{CCC0F64E-8B0C-4424-81E6-4990D2C23BC0}"/>
              </a:ext>
            </a:extLst>
          </p:cNvPr>
          <p:cNvSpPr>
            <a:spLocks noGrp="1"/>
          </p:cNvSpPr>
          <p:nvPr/>
        </p:nvSpPr>
        <p:spPr>
          <a:xfrm>
            <a:off x="489335" y="3098307"/>
            <a:ext cx="5297102" cy="2971800"/>
          </a:xfrm>
          <a:prstGeom prst="roundRect">
            <a:avLst>
              <a:gd name="adj" fmla="val 2564"/>
            </a:avLst>
          </a:prstGeom>
          <a:solidFill>
            <a:srgbClr val="EAF4EF"/>
          </a:solidFill>
        </p:spPr>
      </p:sp>
      <p:sp>
        <p:nvSpPr>
          <p:cNvPr id="6" name="s3-card-3">
            <a:extLst>
              <a:ext uri="{FF2B5EF4-FFF2-40B4-BE49-F238E27FC236}">
                <a16:creationId xmlns:a16="http://schemas.microsoft.com/office/drawing/2014/main" id="{180E3518-C6B9-44D2-BB90-ECAF5ADB0AAB}"/>
              </a:ext>
            </a:extLst>
          </p:cNvPr>
          <p:cNvSpPr>
            <a:spLocks noGrp="1"/>
          </p:cNvSpPr>
          <p:nvPr/>
        </p:nvSpPr>
        <p:spPr>
          <a:xfrm>
            <a:off x="6178858" y="3098307"/>
            <a:ext cx="5622617" cy="2892918"/>
          </a:xfrm>
          <a:prstGeom prst="roundRect">
            <a:avLst>
              <a:gd name="adj" fmla="val 2564"/>
            </a:avLst>
          </a:prstGeom>
          <a:solidFill>
            <a:srgbClr val="F2F4F6"/>
          </a:solidFill>
        </p:spPr>
      </p:sp>
      <p:sp>
        <p:nvSpPr>
          <p:cNvPr id="9" name="s3-stat-2">
            <a:extLst>
              <a:ext uri="{FF2B5EF4-FFF2-40B4-BE49-F238E27FC236}">
                <a16:creationId xmlns:a16="http://schemas.microsoft.com/office/drawing/2014/main" id="{3F9F4E80-DEAE-4B11-982F-19F71BF1EF57}"/>
              </a:ext>
            </a:extLst>
          </p:cNvPr>
          <p:cNvSpPr>
            <a:spLocks noGrp="1"/>
          </p:cNvSpPr>
          <p:nvPr/>
        </p:nvSpPr>
        <p:spPr>
          <a:xfrm>
            <a:off x="2264569" y="3019425"/>
            <a:ext cx="2943225" cy="136207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4200" b="1">
                <a:solidFill>
                  <a:srgbClr val="1972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/>
              <a:t>9.0%</a:t>
            </a:r>
          </a:p>
        </p:txBody>
      </p:sp>
      <p:sp>
        <p:nvSpPr>
          <p:cNvPr id="10" name="s3-body-2">
            <a:extLst>
              <a:ext uri="{FF2B5EF4-FFF2-40B4-BE49-F238E27FC236}">
                <a16:creationId xmlns:a16="http://schemas.microsoft.com/office/drawing/2014/main" id="{9756B797-A917-4DD4-8905-F99AE5F20B54}"/>
              </a:ext>
            </a:extLst>
          </p:cNvPr>
          <p:cNvSpPr>
            <a:spLocks noGrp="1"/>
          </p:cNvSpPr>
          <p:nvPr/>
        </p:nvSpPr>
        <p:spPr>
          <a:xfrm>
            <a:off x="1929691" y="4674833"/>
            <a:ext cx="2952750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2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/>
              <a:t>Final
</a:t>
            </a:r>
            <a:r>
              <a:rPr dirty="0" err="1"/>
              <a:t>平均</a:t>
            </a:r>
            <a:r>
              <a:rPr dirty="0"/>
              <a:t> CPU </a:t>
            </a:r>
            <a:r>
              <a:rPr dirty="0" err="1"/>
              <a:t>降幅</a:t>
            </a:r>
            <a:endParaRPr dirty="0"/>
          </a:p>
        </p:txBody>
      </p:sp>
      <p:sp>
        <p:nvSpPr>
          <p:cNvPr id="11" name="s3-stat-3">
            <a:extLst>
              <a:ext uri="{FF2B5EF4-FFF2-40B4-BE49-F238E27FC236}">
                <a16:creationId xmlns:a16="http://schemas.microsoft.com/office/drawing/2014/main" id="{50C84C05-F3FF-407D-B4EA-A7D78B1AB8C9}"/>
              </a:ext>
            </a:extLst>
          </p:cNvPr>
          <p:cNvSpPr>
            <a:spLocks noGrp="1"/>
          </p:cNvSpPr>
          <p:nvPr/>
        </p:nvSpPr>
        <p:spPr>
          <a:xfrm>
            <a:off x="8020143" y="3019425"/>
            <a:ext cx="2943225" cy="136207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4200" b="1">
                <a:solidFill>
                  <a:srgbClr val="1972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/>
              <a:t>20.4%</a:t>
            </a:r>
          </a:p>
        </p:txBody>
      </p:sp>
      <p:sp>
        <p:nvSpPr>
          <p:cNvPr id="12" name="s3-body-3">
            <a:extLst>
              <a:ext uri="{FF2B5EF4-FFF2-40B4-BE49-F238E27FC236}">
                <a16:creationId xmlns:a16="http://schemas.microsoft.com/office/drawing/2014/main" id="{650B3C6B-03FC-480B-8BF5-1D1A7481E2F7}"/>
              </a:ext>
            </a:extLst>
          </p:cNvPr>
          <p:cNvSpPr>
            <a:spLocks noGrp="1"/>
          </p:cNvSpPr>
          <p:nvPr/>
        </p:nvSpPr>
        <p:spPr>
          <a:xfrm>
            <a:off x="8010618" y="4784232"/>
            <a:ext cx="2952750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2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/>
              <a:t>Final
</a:t>
            </a:r>
            <a:r>
              <a:rPr dirty="0" err="1"/>
              <a:t>幀間隔</a:t>
            </a:r>
            <a:r>
              <a:rPr dirty="0"/>
              <a:t> P95 </a:t>
            </a:r>
            <a:r>
              <a:rPr dirty="0" err="1"/>
              <a:t>改善</a:t>
            </a:r>
            <a:endParaRPr dirty="0"/>
          </a:p>
        </p:txBody>
      </p:sp>
      <p:sp>
        <p:nvSpPr>
          <p:cNvPr id="13" name="page-3">
            <a:extLst>
              <a:ext uri="{FF2B5EF4-FFF2-40B4-BE49-F238E27FC236}">
                <a16:creationId xmlns:a16="http://schemas.microsoft.com/office/drawing/2014/main" id="{1DEA63B8-AAAF-459F-924F-08019FD79044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5060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60194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4-title">
            <a:extLst>
              <a:ext uri="{FF2B5EF4-FFF2-40B4-BE49-F238E27FC236}">
                <a16:creationId xmlns:a16="http://schemas.microsoft.com/office/drawing/2014/main" id="{B0892848-133A-4CCE-B7AF-B77DFCEFFF35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8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2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兩階段完成後，瓶頸移到輸出端編碼</a:t>
            </a:r>
          </a:p>
        </p:txBody>
      </p:sp>
      <p:sp>
        <p:nvSpPr>
          <p:cNvPr id="2" name="s4-label-1">
            <a:extLst>
              <a:ext uri="{FF2B5EF4-FFF2-40B4-BE49-F238E27FC236}">
                <a16:creationId xmlns:a16="http://schemas.microsoft.com/office/drawing/2014/main" id="{0BDD36F2-A48E-4599-93EB-C1421008318E}"/>
              </a:ext>
            </a:extLst>
          </p:cNvPr>
          <p:cNvSpPr>
            <a:spLocks noGrp="1"/>
          </p:cNvSpPr>
          <p:nvPr/>
        </p:nvSpPr>
        <p:spPr>
          <a:xfrm>
            <a:off x="390525" y="2847975"/>
            <a:ext cx="160972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769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已完成</a:t>
            </a:r>
          </a:p>
        </p:txBody>
      </p:sp>
      <p:sp>
        <p:nvSpPr>
          <p:cNvPr id="3" name="s4-label-2">
            <a:extLst>
              <a:ext uri="{FF2B5EF4-FFF2-40B4-BE49-F238E27FC236}">
                <a16:creationId xmlns:a16="http://schemas.microsoft.com/office/drawing/2014/main" id="{8137CD0C-303B-4AC0-91FD-59A3FEBD99C5}"/>
              </a:ext>
            </a:extLst>
          </p:cNvPr>
          <p:cNvSpPr>
            <a:spLocks noGrp="1"/>
          </p:cNvSpPr>
          <p:nvPr/>
        </p:nvSpPr>
        <p:spPr>
          <a:xfrm>
            <a:off x="4295775" y="2847975"/>
            <a:ext cx="160972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972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已完成</a:t>
            </a:r>
          </a:p>
        </p:txBody>
      </p:sp>
      <p:sp>
        <p:nvSpPr>
          <p:cNvPr id="4" name="s4-label-3">
            <a:extLst>
              <a:ext uri="{FF2B5EF4-FFF2-40B4-BE49-F238E27FC236}">
                <a16:creationId xmlns:a16="http://schemas.microsoft.com/office/drawing/2014/main" id="{F2475347-2F21-4E46-A790-3D01D985671F}"/>
              </a:ext>
            </a:extLst>
          </p:cNvPr>
          <p:cNvSpPr>
            <a:spLocks noGrp="1"/>
          </p:cNvSpPr>
          <p:nvPr/>
        </p:nvSpPr>
        <p:spPr>
          <a:xfrm>
            <a:off x="8220075" y="2847975"/>
            <a:ext cx="160972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A45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下一步</a:t>
            </a:r>
          </a:p>
        </p:txBody>
      </p:sp>
      <p:cxnSp>
        <p:nvCxnSpPr>
          <p:cNvPr id="20" name="s4-line"/>
          <p:cNvCxnSpPr/>
          <p:nvPr/>
        </p:nvCxnSpPr>
        <p:spPr>
          <a:xfrm>
            <a:off x="333375" y="3371850"/>
            <a:ext cx="12249150" cy="953"/>
          </a:xfrm>
          <a:prstGeom prst="straightConnector1">
            <a:avLst/>
          </a:prstGeom>
          <a:ln w="28575">
            <a:solidFill>
              <a:srgbClr val="82909C"/>
            </a:solidFill>
            <a:prstDash val="solid"/>
          </a:ln>
        </p:spPr>
      </p:cxnSp>
      <p:sp>
        <p:nvSpPr>
          <p:cNvPr id="6" name="s4-dot-1">
            <a:extLst>
              <a:ext uri="{FF2B5EF4-FFF2-40B4-BE49-F238E27FC236}">
                <a16:creationId xmlns:a16="http://schemas.microsoft.com/office/drawing/2014/main" id="{DF509140-7981-4FDD-9128-674A4AE1E1B2}"/>
              </a:ext>
            </a:extLst>
          </p:cNvPr>
          <p:cNvSpPr>
            <a:spLocks noGrp="1"/>
          </p:cNvSpPr>
          <p:nvPr/>
        </p:nvSpPr>
        <p:spPr>
          <a:xfrm>
            <a:off x="333375" y="3295650"/>
            <a:ext cx="152400" cy="152400"/>
          </a:xfrm>
          <a:prstGeom prst="ellipse">
            <a:avLst/>
          </a:prstGeom>
          <a:solidFill>
            <a:srgbClr val="1769AA"/>
          </a:solidFill>
        </p:spPr>
      </p:sp>
      <p:sp>
        <p:nvSpPr>
          <p:cNvPr id="7" name="s4-dot-2">
            <a:extLst>
              <a:ext uri="{FF2B5EF4-FFF2-40B4-BE49-F238E27FC236}">
                <a16:creationId xmlns:a16="http://schemas.microsoft.com/office/drawing/2014/main" id="{F82D5619-9591-4394-B21A-00D828E7D726}"/>
              </a:ext>
            </a:extLst>
          </p:cNvPr>
          <p:cNvSpPr>
            <a:spLocks noGrp="1"/>
          </p:cNvSpPr>
          <p:nvPr/>
        </p:nvSpPr>
        <p:spPr>
          <a:xfrm>
            <a:off x="4229100" y="3295650"/>
            <a:ext cx="152400" cy="152400"/>
          </a:xfrm>
          <a:prstGeom prst="ellipse">
            <a:avLst/>
          </a:prstGeom>
          <a:solidFill>
            <a:srgbClr val="197247"/>
          </a:solidFill>
        </p:spPr>
      </p:sp>
      <p:sp>
        <p:nvSpPr>
          <p:cNvPr id="8" name="s4-dot-3">
            <a:extLst>
              <a:ext uri="{FF2B5EF4-FFF2-40B4-BE49-F238E27FC236}">
                <a16:creationId xmlns:a16="http://schemas.microsoft.com/office/drawing/2014/main" id="{5449779B-9875-4BEF-9063-A3B2C9FEEAA3}"/>
              </a:ext>
            </a:extLst>
          </p:cNvPr>
          <p:cNvSpPr>
            <a:spLocks noGrp="1"/>
          </p:cNvSpPr>
          <p:nvPr/>
        </p:nvSpPr>
        <p:spPr>
          <a:xfrm>
            <a:off x="8153400" y="3295650"/>
            <a:ext cx="152400" cy="152400"/>
          </a:xfrm>
          <a:prstGeom prst="ellipse">
            <a:avLst/>
          </a:prstGeom>
          <a:solidFill>
            <a:srgbClr val="C66A00"/>
          </a:solidFill>
        </p:spPr>
      </p:sp>
      <p:sp>
        <p:nvSpPr>
          <p:cNvPr id="9" name="s4-body-1-title">
            <a:extLst>
              <a:ext uri="{FF2B5EF4-FFF2-40B4-BE49-F238E27FC236}">
                <a16:creationId xmlns:a16="http://schemas.microsoft.com/office/drawing/2014/main" id="{429AF6A7-271E-4087-9B8B-A35A52BA2AD0}"/>
              </a:ext>
            </a:extLst>
          </p:cNvPr>
          <p:cNvSpPr>
            <a:spLocks noGrp="1"/>
          </p:cNvSpPr>
          <p:nvPr/>
        </p:nvSpPr>
        <p:spPr>
          <a:xfrm>
            <a:off x="400050" y="3819525"/>
            <a:ext cx="3152775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769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① WebRTC</a:t>
            </a:r>
          </a:p>
        </p:txBody>
      </p:sp>
      <p:sp>
        <p:nvSpPr>
          <p:cNvPr id="10" name="s4-body-1">
            <a:extLst>
              <a:ext uri="{FF2B5EF4-FFF2-40B4-BE49-F238E27FC236}">
                <a16:creationId xmlns:a16="http://schemas.microsoft.com/office/drawing/2014/main" id="{A8FE1107-0CF5-4F38-B214-C51C4E24A0E8}"/>
              </a:ext>
            </a:extLst>
          </p:cNvPr>
          <p:cNvSpPr>
            <a:spLocks noGrp="1"/>
          </p:cNvSpPr>
          <p:nvPr/>
        </p:nvSpPr>
        <p:spPr>
          <a:xfrm>
            <a:off x="400050" y="4333875"/>
            <a:ext cx="3152775" cy="1066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5060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頻寬下降約 97%
適合遠端即時串流</a:t>
            </a:r>
          </a:p>
        </p:txBody>
      </p:sp>
      <p:sp>
        <p:nvSpPr>
          <p:cNvPr id="11" name="s4-body-2-title">
            <a:extLst>
              <a:ext uri="{FF2B5EF4-FFF2-40B4-BE49-F238E27FC236}">
                <a16:creationId xmlns:a16="http://schemas.microsoft.com/office/drawing/2014/main" id="{CEAD1146-282A-416B-9567-11D9C2BF0D16}"/>
              </a:ext>
            </a:extLst>
          </p:cNvPr>
          <p:cNvSpPr>
            <a:spLocks noGrp="1"/>
          </p:cNvSpPr>
          <p:nvPr/>
        </p:nvSpPr>
        <p:spPr>
          <a:xfrm>
            <a:off x="4314825" y="3819525"/>
            <a:ext cx="3152775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972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② VIC</a:t>
            </a:r>
          </a:p>
        </p:txBody>
      </p:sp>
      <p:sp>
        <p:nvSpPr>
          <p:cNvPr id="12" name="s4-body-2">
            <a:extLst>
              <a:ext uri="{FF2B5EF4-FFF2-40B4-BE49-F238E27FC236}">
                <a16:creationId xmlns:a16="http://schemas.microsoft.com/office/drawing/2014/main" id="{09D92556-7A62-45C9-8648-BE693ECD49E3}"/>
              </a:ext>
            </a:extLst>
          </p:cNvPr>
          <p:cNvSpPr>
            <a:spLocks noGrp="1"/>
          </p:cNvSpPr>
          <p:nvPr/>
        </p:nvSpPr>
        <p:spPr>
          <a:xfrm>
            <a:off x="4314825" y="4333875"/>
            <a:ext cx="3152775" cy="1066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5060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Final CPU 降低約 9%
改善幀間隔尾端</a:t>
            </a:r>
          </a:p>
        </p:txBody>
      </p:sp>
      <p:sp>
        <p:nvSpPr>
          <p:cNvPr id="13" name="s4-body-3-title">
            <a:extLst>
              <a:ext uri="{FF2B5EF4-FFF2-40B4-BE49-F238E27FC236}">
                <a16:creationId xmlns:a16="http://schemas.microsoft.com/office/drawing/2014/main" id="{87F2FBD8-CDE9-4D4B-80A6-8A85FDB38C4E}"/>
              </a:ext>
            </a:extLst>
          </p:cNvPr>
          <p:cNvSpPr>
            <a:spLocks noGrp="1"/>
          </p:cNvSpPr>
          <p:nvPr/>
        </p:nvSpPr>
        <p:spPr>
          <a:xfrm>
            <a:off x="8181975" y="3819525"/>
            <a:ext cx="333375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A45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③ NVENC H.264</a:t>
            </a:r>
          </a:p>
        </p:txBody>
      </p:sp>
      <p:sp>
        <p:nvSpPr>
          <p:cNvPr id="14" name="s4-body-3">
            <a:extLst>
              <a:ext uri="{FF2B5EF4-FFF2-40B4-BE49-F238E27FC236}">
                <a16:creationId xmlns:a16="http://schemas.microsoft.com/office/drawing/2014/main" id="{8451C447-24A1-4A3B-88BF-29B6C8B16A92}"/>
              </a:ext>
            </a:extLst>
          </p:cNvPr>
          <p:cNvSpPr>
            <a:spLocks noGrp="1"/>
          </p:cNvSpPr>
          <p:nvPr/>
        </p:nvSpPr>
        <p:spPr>
          <a:xfrm>
            <a:off x="8181975" y="4333875"/>
            <a:ext cx="3152775" cy="1066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5060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 err="1"/>
              <a:t>取代</a:t>
            </a:r>
            <a:r>
              <a:rPr dirty="0"/>
              <a:t> CPU </a:t>
            </a:r>
            <a:r>
              <a:rPr dirty="0" err="1"/>
              <a:t>軟體編碼</a:t>
            </a:r>
            <a:r>
              <a:rPr dirty="0"/>
              <a:t>
</a:t>
            </a:r>
            <a:r>
              <a:rPr dirty="0" err="1"/>
              <a:t>並減少</a:t>
            </a:r>
            <a:r>
              <a:rPr dirty="0"/>
              <a:t> frame copy</a:t>
            </a:r>
          </a:p>
        </p:txBody>
      </p:sp>
      <p:sp>
        <p:nvSpPr>
          <p:cNvPr id="15" name="page-4">
            <a:extLst>
              <a:ext uri="{FF2B5EF4-FFF2-40B4-BE49-F238E27FC236}">
                <a16:creationId xmlns:a16="http://schemas.microsoft.com/office/drawing/2014/main" id="{310A0CBA-10BD-4332-87F1-83D649ACB554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5060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730310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322</Words>
  <Application>Microsoft Office PowerPoint</Application>
  <DocSecurity>0</DocSecurity>
  <PresentationFormat>寬螢幕</PresentationFormat>
  <Paragraphs>46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7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lab508</cp:lastModifiedBy>
  <cp:revision>4</cp:revision>
  <dcterms:created xsi:type="dcterms:W3CDTF">2026-08-05T03:38:29Z</dcterms:created>
  <dcterms:modified xsi:type="dcterms:W3CDTF">2026-08-05T04:47:50Z</dcterms:modified>
</cp:coreProperties>
</file>